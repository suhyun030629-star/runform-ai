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9" r:id="rId11"/>
    <p:sldId id="270" r:id="rId12"/>
    <p:sldId id="265" r:id="rId13"/>
    <p:sldId id="267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34"/>
    <p:restoredTop sz="94610"/>
  </p:normalViewPr>
  <p:slideViewPr>
    <p:cSldViewPr snapToGrid="0" snapToObjects="1">
      <p:cViewPr>
        <p:scale>
          <a:sx n="59" d="100"/>
          <a:sy n="59" d="100"/>
        </p:scale>
        <p:origin x="2792" y="15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90985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5829CD-5DB9-51EB-9128-FE4CE6622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D32817-B270-F4A3-D3A4-76266F8C0F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48A7A1-8D79-BE4C-2826-2EC3C94D84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F88D81-49F2-957A-B982-AB3866851E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3767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61F51C-7623-693C-FDB9-F9161E915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9BFAA9-1765-4137-DA9F-5A0062C072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FE3059-0A71-B7F9-A6E6-CFBE2BFA9E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B40BC9-A438-228C-4853-E2D06AAE42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95921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822960" y="868680"/>
            <a:ext cx="777240" cy="777240"/>
          </a:xfrm>
          <a:prstGeom prst="ellipse">
            <a:avLst/>
          </a:prstGeom>
          <a:solidFill>
            <a:srgbClr val="24314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/sessions/dazzling-quirky-mayer/mnt/outputs/icons/vide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001" y="969721"/>
            <a:ext cx="575158" cy="57515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331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F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RUNFORM AI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22960" y="274320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러닝 자세, </a:t>
            </a:r>
            <a:r>
              <a:rPr lang="en-US" sz="4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영상</a:t>
            </a: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하나로 </a:t>
            </a:r>
            <a:r>
              <a:rPr lang="en-US" sz="4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점검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822960" y="37033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7C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Pose 기반 러닝 자세 분석 웹 애플리케이션 · 프로젝트 결과 발표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22960" y="5806440"/>
            <a:ext cx="1828800" cy="0"/>
          </a:xfrm>
          <a:prstGeom prst="line">
            <a:avLst/>
          </a:prstGeom>
          <a:noFill/>
          <a:ln w="12700">
            <a:solidFill>
              <a:srgbClr val="3A487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822960" y="594360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ko-KR" sz="130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24013843</a:t>
            </a:r>
            <a:r>
              <a:rPr lang="ko-KR" altLang="en-US" sz="130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이수현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목차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FD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417320" y="1892808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배경 및 목적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17320" y="2295144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RunForm AI가 필요한가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2953512"/>
            <a:ext cx="5074920" cy="0"/>
          </a:xfrm>
          <a:prstGeom prst="line">
            <a:avLst/>
          </a:prstGeom>
          <a:noFill/>
          <a:ln w="12700">
            <a:solidFill>
              <a:srgbClr val="E5E8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172200" y="187452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FD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949440" y="1892808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시스템 구성 및 기술 스택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949440" y="2295144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· MediaPipe · OpenCV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72200" y="2953512"/>
            <a:ext cx="5074920" cy="0"/>
          </a:xfrm>
          <a:prstGeom prst="line">
            <a:avLst/>
          </a:prstGeom>
          <a:noFill/>
          <a:ln w="12700">
            <a:solidFill>
              <a:srgbClr val="E5E8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40080" y="329184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FD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417320" y="3310128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분석 로직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17320" y="3712464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Pose 추정부터 피드백 생성까지 6단계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4370832"/>
            <a:ext cx="5074920" cy="0"/>
          </a:xfrm>
          <a:prstGeom prst="line">
            <a:avLst/>
          </a:prstGeom>
          <a:noFill/>
          <a:ln w="12700">
            <a:solidFill>
              <a:srgbClr val="E5E8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172200" y="329184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FD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949440" y="3310128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활용 및 신뢰도 처리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949440" y="3712464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촬영 구도에 따른 결과 보정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72200" y="4370832"/>
            <a:ext cx="5074920" cy="0"/>
          </a:xfrm>
          <a:prstGeom prst="line">
            <a:avLst/>
          </a:prstGeom>
          <a:noFill/>
          <a:ln w="12700">
            <a:solidFill>
              <a:srgbClr val="E5E8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640080" y="470916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FD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1417320" y="4727448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구현 결과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17320" y="5129784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흐름과 결과 화면 구성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40080" y="5788152"/>
            <a:ext cx="5074920" cy="0"/>
          </a:xfrm>
          <a:prstGeom prst="line">
            <a:avLst/>
          </a:prstGeom>
          <a:noFill/>
          <a:ln w="12700">
            <a:solidFill>
              <a:srgbClr val="E5E8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6172200" y="470916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FD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6949440" y="4727448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배포 · 한계 · 결론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949440" y="5129784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재현 가능한 배포와 향후 개선 방향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172200" y="5788152"/>
            <a:ext cx="5074920" cy="0"/>
          </a:xfrm>
          <a:prstGeom prst="line">
            <a:avLst/>
          </a:prstGeom>
          <a:noFill/>
          <a:ln w="12700">
            <a:solidFill>
              <a:srgbClr val="E5E8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11368735" y="643737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배경 및 문제 정의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612648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E5E8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60120" y="1920240"/>
            <a:ext cx="566928" cy="566928"/>
          </a:xfrm>
          <a:prstGeom prst="ellipse">
            <a:avLst/>
          </a:prstGeom>
          <a:solidFill>
            <a:srgbClr val="FFE7E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/sessions/dazzling-quirky-mayer/mnt/outputs/icons/camera_acc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821" y="1993941"/>
            <a:ext cx="419527" cy="41952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947672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전문가 없이는 점검이 어려운 러닝 자세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60120" y="2697480"/>
            <a:ext cx="5486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러닝 자세를 스스로 점검하려면 촬영 영상을 반복 재생하며 눈으로 확인하거나, 코치·물리치료사 같은 전문가의 도움을 받아야 하는 경우가 많다. 이는 시간과 비용의 제약이 따른다.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60120" y="3794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RunForm AI의 접근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960120" y="420624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단일 측면 러닝 영상에서 핵심 자세 지표를 자동으로 산출하고, 단순 수치가 아닌 “어떻게 교정할지”를 안내하는 한국어 문장 피드백을 제공한다.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960120" y="5257800"/>
            <a:ext cx="5440680" cy="713232"/>
          </a:xfrm>
          <a:prstGeom prst="rect">
            <a:avLst/>
          </a:prstGeom>
          <a:solidFill>
            <a:srgbClr val="FFE7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1143000" y="5257800"/>
            <a:ext cx="5120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3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참고용 점검 도구이며, 의료적 진단을 대체하지 않습니다.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040880" y="1600200"/>
            <a:ext cx="4526280" cy="4572000"/>
          </a:xfrm>
          <a:prstGeom prst="roundRect">
            <a:avLst>
              <a:gd name="adj" fmla="val 2424"/>
            </a:avLst>
          </a:prstGeom>
          <a:solidFill>
            <a:srgbClr val="16213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7406640" y="18745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좋은 촬영을 위한 조건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7406640" y="2377440"/>
            <a:ext cx="393192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15000"/>
              </a:lnSpc>
              <a:spcAft>
                <a:spcPts val="1400"/>
              </a:spcAft>
              <a:buSzPct val="100000"/>
              <a:buChar char="✦"/>
            </a:pPr>
            <a:r>
              <a:rPr lang="en-US" sz="1300" dirty="0">
                <a:solidFill>
                  <a:srgbClr val="DC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7~15초 길이의 영상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1400"/>
              </a:spcAft>
              <a:buSzPct val="100000"/>
              <a:buChar char="✦"/>
            </a:pPr>
            <a:r>
              <a:rPr lang="en-US" sz="1300" dirty="0">
                <a:solidFill>
                  <a:srgbClr val="DC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카메라 고정, 전신·발이 모두 보이게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1400"/>
              </a:spcAft>
              <a:buSzPct val="100000"/>
              <a:buChar char="✦"/>
            </a:pPr>
            <a:r>
              <a:rPr lang="en-US" sz="1300" dirty="0">
                <a:solidFill>
                  <a:srgbClr val="DC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가능한 측면에서 한 방향으로 달리기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1400"/>
              </a:spcAft>
              <a:buSzPct val="100000"/>
              <a:buChar char="✦"/>
            </a:pPr>
            <a:r>
              <a:rPr lang="en-US" sz="1300" dirty="0">
                <a:solidFill>
                  <a:srgbClr val="DC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시작 전 1~2초는 가만히 서 있기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1400"/>
              </a:spcAft>
              <a:buSzPct val="100000"/>
              <a:buChar char="✦"/>
            </a:pPr>
            <a:r>
              <a:rPr lang="en-US" sz="1300" dirty="0">
                <a:solidFill>
                  <a:srgbClr val="DC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화면에는 분석 대상 한 사람만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1368735" y="643737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목적 — 6가지 핵심 분석 지표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2984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단일 측면 러닝 영상에서 자동으로 산출되는 지표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F6F7FB"/>
          </a:solidFill>
          <a:ln/>
          <a:effectLst>
            <a:outerShdw blurRad="88900" dist="25400" dir="5400000" algn="bl" rotWithShape="0">
              <a:srgbClr val="1B244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68680" y="2039112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68680" y="2624328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상체 기울기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68680" y="3044952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양쪽 팔꿈치 각도와 함께 확인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416552" y="187452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F6F7FB"/>
          </a:solidFill>
          <a:ln/>
          <a:effectLst>
            <a:outerShdw blurRad="88900" dist="25400" dir="5400000" algn="bl" rotWithShape="0">
              <a:srgbClr val="1B244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4645152" y="2039112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645152" y="2624328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착지 무릎 굽힘각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4645152" y="3044952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착지 순간 좌우 차이(대칭성) 포함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193024" y="187452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F6F7FB"/>
          </a:solidFill>
          <a:ln/>
          <a:effectLst>
            <a:outerShdw blurRad="88900" dist="25400" dir="5400000" algn="bl" rotWithShape="0">
              <a:srgbClr val="1B244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8421624" y="2039112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8421624" y="2624328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착지 유형 경향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8421624" y="3044952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전족 · 중족 · 후족 착지 분류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4005072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F6F7FB"/>
          </a:solidFill>
          <a:ln/>
          <a:effectLst>
            <a:outerShdw blurRad="88900" dist="25400" dir="5400000" algn="bl" rotWithShape="0">
              <a:srgbClr val="1B244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868680" y="4169664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868680" y="475488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오버스트라이드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868680" y="5175504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골반 이동 벡터 기준 보폭 과다 여부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416552" y="4005072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F6F7FB"/>
          </a:solidFill>
          <a:ln/>
          <a:effectLst>
            <a:outerShdw blurRad="88900" dist="25400" dir="5400000" algn="bl" rotWithShape="0">
              <a:srgbClr val="1B244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4645152" y="4169664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4645152" y="475488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수직 진폭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4645152" y="5175504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달리는 동안의 상하 움직임 정도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193024" y="4005072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F6F7FB"/>
          </a:solidFill>
          <a:ln/>
          <a:effectLst>
            <a:outerShdw blurRad="88900" dist="25400" dir="5400000" algn="bl" rotWithShape="0">
              <a:srgbClr val="1B244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8421624" y="4169664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8421624" y="475488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케이던스 · 신뢰도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8421624" y="5175504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분당 걸음 수와 영상 구도 신뢰도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11368735" y="643737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시스템 구성 및 기술 스택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486400" cy="4837176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E5E8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14400" y="1874520"/>
            <a:ext cx="502920" cy="502920"/>
          </a:xfrm>
          <a:prstGeom prst="ellipse">
            <a:avLst/>
          </a:prstGeom>
          <a:solidFill>
            <a:srgbClr val="FFE7E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/sessions/dazzling-quirky-mayer/mnt/outputs/icons/layers_acc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780" y="1939900"/>
            <a:ext cx="372161" cy="37216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92024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모듈 구조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960120" y="2679192"/>
            <a:ext cx="91440" cy="91440"/>
          </a:xfrm>
          <a:prstGeom prst="ellipse">
            <a:avLst/>
          </a:prstGeom>
          <a:solidFill>
            <a:srgbClr val="FF5A3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1188720" y="2532888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flask_app.py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188720" y="2825496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웹 화면, 업로드 처리, 분석 요청 라우팅, 결과 렌더링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960120" y="3520440"/>
            <a:ext cx="91440" cy="91440"/>
          </a:xfrm>
          <a:prstGeom prst="ellipse">
            <a:avLst/>
          </a:prstGeom>
          <a:solidFill>
            <a:srgbClr val="FF5A3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1188720" y="3374136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running_analyzer.py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188720" y="3666744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Pose 추정, 지표 계산, 한국어 피드백 생성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960120" y="4361688"/>
            <a:ext cx="91440" cy="91440"/>
          </a:xfrm>
          <a:prstGeom prst="ellipse">
            <a:avLst/>
          </a:prstGeom>
          <a:solidFill>
            <a:srgbClr val="FF5A3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/>
          <p:nvPr/>
        </p:nvSpPr>
        <p:spPr>
          <a:xfrm>
            <a:off x="1188720" y="4215384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app.py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188720" y="4507992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Docker/Gunicorn과 로컬 실행이 공유하는 WSGI 진입점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960120" y="5202936"/>
            <a:ext cx="91440" cy="91440"/>
          </a:xfrm>
          <a:prstGeom prst="ellipse">
            <a:avLst/>
          </a:prstGeom>
          <a:solidFill>
            <a:srgbClr val="FF5A3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/>
          <p:nvPr/>
        </p:nvSpPr>
        <p:spPr>
          <a:xfrm>
            <a:off x="1188720" y="5056632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 · docker-compose.yml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188720" y="534924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컨테이너 이미지 정의 및 포트 · 볼륨 · 헬스체크 설정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6355080" y="1600200"/>
            <a:ext cx="5212080" cy="4837176"/>
          </a:xfrm>
          <a:prstGeom prst="roundRect">
            <a:avLst>
              <a:gd name="adj" fmla="val 2400"/>
            </a:avLst>
          </a:prstGeom>
          <a:solidFill>
            <a:srgbClr val="16213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/>
          <p:nvPr/>
        </p:nvSpPr>
        <p:spPr>
          <a:xfrm>
            <a:off x="6675120" y="18745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 스택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6675120" y="2395728"/>
            <a:ext cx="4526280" cy="566928"/>
          </a:xfrm>
          <a:prstGeom prst="roundRect">
            <a:avLst>
              <a:gd name="adj" fmla="val 12903"/>
            </a:avLst>
          </a:prstGeom>
          <a:solidFill>
            <a:srgbClr val="232F5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/>
          <p:nvPr/>
        </p:nvSpPr>
        <p:spPr>
          <a:xfrm>
            <a:off x="6858000" y="2432304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3.1.3 / Gunicorn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6858000" y="2688336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E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웹 서버 · 운영 환경 구동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6675120" y="3054096"/>
            <a:ext cx="4526280" cy="566928"/>
          </a:xfrm>
          <a:prstGeom prst="roundRect">
            <a:avLst>
              <a:gd name="adj" fmla="val 12903"/>
            </a:avLst>
          </a:prstGeom>
          <a:solidFill>
            <a:srgbClr val="232F5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3"/>
          <p:cNvSpPr/>
          <p:nvPr/>
        </p:nvSpPr>
        <p:spPr>
          <a:xfrm>
            <a:off x="6858000" y="3090672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Pose 0.10.14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6858000" y="3346704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E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33개 신체 랜드마크 추정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6675120" y="3712464"/>
            <a:ext cx="4526280" cy="566928"/>
          </a:xfrm>
          <a:prstGeom prst="roundRect">
            <a:avLst>
              <a:gd name="adj" fmla="val 12903"/>
            </a:avLst>
          </a:prstGeom>
          <a:solidFill>
            <a:srgbClr val="232F5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6"/>
          <p:cNvSpPr/>
          <p:nvPr/>
        </p:nvSpPr>
        <p:spPr>
          <a:xfrm>
            <a:off x="6858000" y="374904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</a:t>
            </a:r>
            <a:endParaRPr lang="en-US" sz="1250" dirty="0"/>
          </a:p>
        </p:txBody>
      </p:sp>
      <p:sp>
        <p:nvSpPr>
          <p:cNvPr id="30" name="Text 27"/>
          <p:cNvSpPr/>
          <p:nvPr/>
        </p:nvSpPr>
        <p:spPr>
          <a:xfrm>
            <a:off x="6858000" y="4005072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E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프레임 처리, 관절 오버레이 영상 생성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6675120" y="4370832"/>
            <a:ext cx="4526280" cy="566928"/>
          </a:xfrm>
          <a:prstGeom prst="roundRect">
            <a:avLst>
              <a:gd name="adj" fmla="val 12903"/>
            </a:avLst>
          </a:prstGeom>
          <a:solidFill>
            <a:srgbClr val="232F5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9"/>
          <p:cNvSpPr/>
          <p:nvPr/>
        </p:nvSpPr>
        <p:spPr>
          <a:xfrm>
            <a:off x="6858000" y="440740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· Pandas</a:t>
            </a:r>
            <a:endParaRPr lang="en-US" sz="1250" dirty="0"/>
          </a:p>
        </p:txBody>
      </p:sp>
      <p:sp>
        <p:nvSpPr>
          <p:cNvPr id="33" name="Text 30"/>
          <p:cNvSpPr/>
          <p:nvPr/>
        </p:nvSpPr>
        <p:spPr>
          <a:xfrm>
            <a:off x="6858000" y="4663440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E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좌표 · 각도 계산, 평활화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6675120" y="5029200"/>
            <a:ext cx="4526280" cy="566928"/>
          </a:xfrm>
          <a:prstGeom prst="roundRect">
            <a:avLst>
              <a:gd name="adj" fmla="val 12903"/>
            </a:avLst>
          </a:prstGeom>
          <a:solidFill>
            <a:srgbClr val="232F5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2"/>
          <p:cNvSpPr/>
          <p:nvPr/>
        </p:nvSpPr>
        <p:spPr>
          <a:xfrm>
            <a:off x="6858000" y="5065776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250" dirty="0"/>
          </a:p>
        </p:txBody>
      </p:sp>
      <p:sp>
        <p:nvSpPr>
          <p:cNvPr id="36" name="Text 33"/>
          <p:cNvSpPr/>
          <p:nvPr/>
        </p:nvSpPr>
        <p:spPr>
          <a:xfrm>
            <a:off x="6858000" y="5321808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E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좌우 착지 무릎 비교 차트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6675120" y="5687568"/>
            <a:ext cx="4526280" cy="566928"/>
          </a:xfrm>
          <a:prstGeom prst="roundRect">
            <a:avLst>
              <a:gd name="adj" fmla="val 12903"/>
            </a:avLst>
          </a:prstGeom>
          <a:solidFill>
            <a:srgbClr val="232F5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5"/>
          <p:cNvSpPr/>
          <p:nvPr/>
        </p:nvSpPr>
        <p:spPr>
          <a:xfrm>
            <a:off x="6858000" y="5724144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/ Hugging Face Spaces</a:t>
            </a:r>
            <a:endParaRPr lang="en-US" sz="1250" dirty="0"/>
          </a:p>
        </p:txBody>
      </p:sp>
      <p:sp>
        <p:nvSpPr>
          <p:cNvPr id="39" name="Text 36"/>
          <p:cNvSpPr/>
          <p:nvPr/>
        </p:nvSpPr>
        <p:spPr>
          <a:xfrm>
            <a:off x="6858000" y="5980176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E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로컬 · 클라우드 배포</a:t>
            </a:r>
            <a:endParaRPr lang="en-US" sz="1050" dirty="0"/>
          </a:p>
        </p:txBody>
      </p:sp>
      <p:sp>
        <p:nvSpPr>
          <p:cNvPr id="40" name="Text 37"/>
          <p:cNvSpPr/>
          <p:nvPr/>
        </p:nvSpPr>
        <p:spPr>
          <a:xfrm>
            <a:off x="11368735" y="643737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분석 로직 — 6단계 처리 흐름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876044" y="2139696"/>
            <a:ext cx="1191768" cy="0"/>
          </a:xfrm>
          <a:prstGeom prst="line">
            <a:avLst/>
          </a:prstGeom>
          <a:noFill/>
          <a:ln w="25400">
            <a:solidFill>
              <a:srgbClr val="E5E8EF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254252" y="1828800"/>
            <a:ext cx="621792" cy="621792"/>
          </a:xfrm>
          <a:prstGeom prst="ellipse">
            <a:avLst/>
          </a:prstGeom>
          <a:solidFill>
            <a:srgbClr val="FF5A3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254252" y="1828800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689604" y="2139696"/>
            <a:ext cx="1191768" cy="0"/>
          </a:xfrm>
          <a:prstGeom prst="line">
            <a:avLst/>
          </a:prstGeom>
          <a:noFill/>
          <a:ln w="25400">
            <a:solidFill>
              <a:srgbClr val="E5E8EF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067812" y="1828800"/>
            <a:ext cx="621792" cy="621792"/>
          </a:xfrm>
          <a:prstGeom prst="ellipse">
            <a:avLst/>
          </a:prstGeom>
          <a:solidFill>
            <a:srgbClr val="16213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3067812" y="1828800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503164" y="2139696"/>
            <a:ext cx="1191768" cy="0"/>
          </a:xfrm>
          <a:prstGeom prst="line">
            <a:avLst/>
          </a:prstGeom>
          <a:noFill/>
          <a:ln w="25400">
            <a:solidFill>
              <a:srgbClr val="E5E8EF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4881372" y="1828800"/>
            <a:ext cx="621792" cy="621792"/>
          </a:xfrm>
          <a:prstGeom prst="ellipse">
            <a:avLst/>
          </a:prstGeom>
          <a:solidFill>
            <a:srgbClr val="16213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881372" y="1828800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7316724" y="2139696"/>
            <a:ext cx="1191768" cy="0"/>
          </a:xfrm>
          <a:prstGeom prst="line">
            <a:avLst/>
          </a:prstGeom>
          <a:noFill/>
          <a:ln w="25400">
            <a:solidFill>
              <a:srgbClr val="E5E8EF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6694932" y="1828800"/>
            <a:ext cx="621792" cy="621792"/>
          </a:xfrm>
          <a:prstGeom prst="ellipse">
            <a:avLst/>
          </a:prstGeom>
          <a:solidFill>
            <a:srgbClr val="16213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694932" y="1828800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9130284" y="2139696"/>
            <a:ext cx="1191768" cy="0"/>
          </a:xfrm>
          <a:prstGeom prst="line">
            <a:avLst/>
          </a:prstGeom>
          <a:noFill/>
          <a:ln w="25400">
            <a:solidFill>
              <a:srgbClr val="E5E8EF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8508492" y="1828800"/>
            <a:ext cx="621792" cy="621792"/>
          </a:xfrm>
          <a:prstGeom prst="ellipse">
            <a:avLst/>
          </a:prstGeom>
          <a:solidFill>
            <a:srgbClr val="16213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8508492" y="1828800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10322052" y="1828800"/>
            <a:ext cx="621792" cy="621792"/>
          </a:xfrm>
          <a:prstGeom prst="ellipse">
            <a:avLst/>
          </a:prstGeom>
          <a:solidFill>
            <a:srgbClr val="16213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10322052" y="1828800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49808" y="2651760"/>
            <a:ext cx="1630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Pose Estimation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2563368" y="2651760"/>
            <a:ext cx="1630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특징 추출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376928" y="2651760"/>
            <a:ext cx="1630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이동 방향 추정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190488" y="2651760"/>
            <a:ext cx="1630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착지 · 보폭 분석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8004048" y="2651760"/>
            <a:ext cx="1630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신뢰도 처리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9817608" y="2651760"/>
            <a:ext cx="1630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피드백 생성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40080" y="365760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6F7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841248" y="3785616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F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41248" y="4078224"/>
            <a:ext cx="311810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프레임별 33개 신체 랜드마크 추정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416552" y="365760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6F7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4617720" y="3785616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F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617720" y="4078224"/>
            <a:ext cx="311810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관절 각도 · 상대 위치 계산, 평활화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193024" y="365760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6F7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8394192" y="3785616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F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394192" y="4078224"/>
            <a:ext cx="311810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골반 중앙값 차이로 2D 이동 벡터 산출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40080" y="530352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6F7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841248" y="5431536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F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841248" y="5724144"/>
            <a:ext cx="311810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발목 높이 국소 최대값으로 착지 후보 탐지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416552" y="530352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6F7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4617720" y="5431536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F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617720" y="5724144"/>
            <a:ext cx="311810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원근 변화 · 이동 벡터로 구도 신뢰도 판정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8193024" y="530352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6F7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/>
          <p:nvPr/>
        </p:nvSpPr>
        <p:spPr>
          <a:xfrm>
            <a:off x="8394192" y="5431536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F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8394192" y="5724144"/>
            <a:ext cx="311810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목표 범위 비교 후 교정 문장 생성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11368735" y="643737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분석 항목별 판정 기준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881360" cy="429768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89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72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분석 항목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77800" marR="177800" marT="101600" marB="101600" anchor="ctr">
                    <a:lnL w="9525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기본 목표 / 판정 방식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77800" marR="177800" marT="101600" marB="101600" anchor="ctr">
                    <a:lnL w="9525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상체 기울기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77800" marR="177800" marT="101600" marB="101600" anchor="ctr">
                    <a:lnL w="9525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5–10°를 기본 목표 범위로 사용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77800" marR="177800" marT="101600" marB="101600" anchor="ctr">
                    <a:lnL w="9525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팔꿈치 각도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77800" marR="177800" marT="101600" marB="101600" anchor="ctr">
                    <a:lnL w="9525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80–100°를 기본 목표 범위로 사용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77800" marR="177800" marT="101600" marB="101600" anchor="ctr">
                    <a:lnL w="9525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착지 무릎 굽힘각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77800" marR="177800" marT="101600" marB="101600" anchor="ctr">
                    <a:lnL w="9525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15–25°를 기본 목표 범위로 사용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77800" marR="177800" marT="101600" marB="101600" anchor="ctr">
                    <a:lnL w="9525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수직 진폭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77800" marR="177800" marT="101600" marB="101600" anchor="ctr">
                    <a:lnL w="9525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5–10cm를 참고 범위로 사용 (구도 신뢰도 낮으면 판정 보류)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77800" marR="177800" marT="101600" marB="101600" anchor="ctr">
                    <a:lnL w="9525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케이던스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77800" marR="177800" marT="101600" marB="101600" anchor="ctr">
                    <a:lnL w="9525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170–180 SPM을 참고 범위로 사용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77800" marR="177800" marT="101600" marB="101600" anchor="ctr">
                    <a:lnL w="9525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오버스트라이드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77800" marR="177800" marT="101600" marB="101600" anchor="ctr">
                    <a:lnL w="9525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이동 벡터 기준 발목-골반 거리를 신장으로 정규화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77800" marR="177800" marT="101600" marB="101600" anchor="ctr">
                    <a:lnL w="9525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착지 유형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77800" marR="177800" marT="101600" marB="101600" anchor="ctr">
                    <a:lnL w="9525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발끝 · 뒤꿈치 높이 차이로 전족 · 중족 · 후족 경향 표시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77800" marR="177800" marT="101600" marB="101600" anchor="ctr">
                    <a:lnL w="9525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6108192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1368735" y="643737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활용 및 신뢰도 처리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298448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동작도 촬영 각도에 따라 결과가 흔들릴 수 있다는 문제를 보정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F6F7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896112" y="2130552"/>
            <a:ext cx="530352" cy="530352"/>
          </a:xfrm>
          <a:prstGeom prst="ellipse">
            <a:avLst/>
          </a:prstGeom>
          <a:solidFill>
            <a:srgbClr val="FFE7E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/sessions/dazzling-quirky-mayer/mnt/outputs/icons/target_acc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058" y="2199498"/>
            <a:ext cx="392460" cy="3924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2148840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신장 대비 비율 정규화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96112" y="2788920"/>
            <a:ext cx="474573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픽셀 거리 대신 신장 대비 비율로 정규화해 카메라 거리·해상도 차이의 영향을 줄임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187452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F6F7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6519672" y="2130552"/>
            <a:ext cx="530352" cy="530352"/>
          </a:xfrm>
          <a:prstGeom prst="ellipse">
            <a:avLst/>
          </a:prstGeom>
          <a:solidFill>
            <a:srgbClr val="FFE7E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1" descr="/sessions/dazzling-quirky-mayer/mnt/outputs/icons/cpu_acc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8618" y="2199498"/>
            <a:ext cx="392460" cy="3924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23760" y="2148840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이동 벡터 자동 추정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6519672" y="2788920"/>
            <a:ext cx="474573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좌→우 또는 우→좌 이동을 가정하지 않고 골반 전체 이동 벡터를 영상에서 자동 산출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40080" y="411480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F6F7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2"/>
          <p:cNvSpPr/>
          <p:nvPr/>
        </p:nvSpPr>
        <p:spPr>
          <a:xfrm>
            <a:off x="896112" y="4370832"/>
            <a:ext cx="530352" cy="530352"/>
          </a:xfrm>
          <a:prstGeom prst="ellipse">
            <a:avLst/>
          </a:prstGeom>
          <a:solidFill>
            <a:srgbClr val="FFE7E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2" descr="/sessions/dazzling-quirky-mayer/mnt/outputs/icons/chart_acce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5058" y="4439778"/>
            <a:ext cx="392460" cy="3924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00200" y="4389120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원근 변화율 계산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896112" y="5029200"/>
            <a:ext cx="474573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사람이 화면에서 커지거나 작아지는 정도를 함께 계산해 카메라 이동 · 줌 여부를 감지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263640" y="411480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F6F7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6"/>
          <p:cNvSpPr/>
          <p:nvPr/>
        </p:nvSpPr>
        <p:spPr>
          <a:xfrm>
            <a:off x="6519672" y="4370832"/>
            <a:ext cx="530352" cy="530352"/>
          </a:xfrm>
          <a:prstGeom prst="ellipse">
            <a:avLst/>
          </a:prstGeom>
          <a:solidFill>
            <a:srgbClr val="FFE7E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2" name="Image 3" descr="/sessions/dazzling-quirky-mayer/mnt/outputs/icons/shield_accen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8618" y="4439778"/>
            <a:ext cx="392460" cy="3924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223760" y="4389120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신뢰도 안내 표시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6519672" y="5029200"/>
            <a:ext cx="474573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구도가 불리하면 수치를 단정하지 않고 ‘참고용’ · ‘확인 필요’를 함께 표시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11368735" y="643737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구현 결과 — 사용자 이용 흐름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857500" y="2395728"/>
            <a:ext cx="457200" cy="0"/>
          </a:xfrm>
          <a:prstGeom prst="line">
            <a:avLst/>
          </a:prstGeom>
          <a:noFill/>
          <a:ln w="25400">
            <a:solidFill>
              <a:srgbClr val="C7CB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634490" y="2057400"/>
            <a:ext cx="731520" cy="731520"/>
          </a:xfrm>
          <a:prstGeom prst="ellipse">
            <a:avLst/>
          </a:prstGeom>
          <a:solidFill>
            <a:srgbClr val="FFE7E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/sessions/dazzling-quirky-mayer/mnt/outputs/icons/checkcircle_acc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9588" y="2152498"/>
            <a:ext cx="541325" cy="5413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926080"/>
            <a:ext cx="27203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40080" y="3200400"/>
            <a:ext cx="27203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촬영 가이드 확인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68680" y="3657600"/>
            <a:ext cx="22631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고정 카메라, 측면 촬영, 7~15초 등 조건 확인 후 동의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577840" y="2395728"/>
            <a:ext cx="457200" cy="0"/>
          </a:xfrm>
          <a:prstGeom prst="line">
            <a:avLst/>
          </a:prstGeom>
          <a:noFill/>
          <a:ln w="25400">
            <a:solidFill>
              <a:srgbClr val="C7CB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4354830" y="2057400"/>
            <a:ext cx="731520" cy="731520"/>
          </a:xfrm>
          <a:prstGeom prst="ellipse">
            <a:avLst/>
          </a:prstGeom>
          <a:solidFill>
            <a:srgbClr val="FFE7E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1" descr="/sessions/dazzling-quirky-mayer/mnt/outputs/icons/upload_acc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9928" y="2152498"/>
            <a:ext cx="541325" cy="54132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360420" y="2926080"/>
            <a:ext cx="27203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3360420" y="3200400"/>
            <a:ext cx="27203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영상 업로드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3589020" y="3657600"/>
            <a:ext cx="22631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영상 파일과 키(신장)를 입력해 분석 요청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8298180" y="2395728"/>
            <a:ext cx="457200" cy="0"/>
          </a:xfrm>
          <a:prstGeom prst="line">
            <a:avLst/>
          </a:prstGeom>
          <a:noFill/>
          <a:ln w="25400">
            <a:solidFill>
              <a:srgbClr val="C7CB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3"/>
          <p:cNvSpPr/>
          <p:nvPr/>
        </p:nvSpPr>
        <p:spPr>
          <a:xfrm>
            <a:off x="7075170" y="2057400"/>
            <a:ext cx="731520" cy="731520"/>
          </a:xfrm>
          <a:prstGeom prst="ellipse">
            <a:avLst/>
          </a:prstGeom>
          <a:solidFill>
            <a:srgbClr val="FFE7E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8" name="Image 2" descr="/sessions/dazzling-quirky-mayer/mnt/outputs/icons/cpu_acce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0268" y="2152498"/>
            <a:ext cx="541325" cy="54132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080760" y="2926080"/>
            <a:ext cx="27203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6080760" y="3200400"/>
            <a:ext cx="27203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자세 분석 처리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6309360" y="3657600"/>
            <a:ext cx="22631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별도 프로세스에서 MediaPipe 분석 및 오버레이 영상 생성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9795510" y="2057400"/>
            <a:ext cx="731520" cy="731520"/>
          </a:xfrm>
          <a:prstGeom prst="ellipse">
            <a:avLst/>
          </a:prstGeom>
          <a:solidFill>
            <a:srgbClr val="FFE7E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3" name="Image 3" descr="/sessions/dazzling-quirky-mayer/mnt/outputs/icons/chart_accen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90608" y="2152498"/>
            <a:ext cx="541325" cy="541325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801100" y="2926080"/>
            <a:ext cx="27203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8801100" y="3200400"/>
            <a:ext cx="27203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 확인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9029700" y="3657600"/>
            <a:ext cx="22631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요약 지표 · 피드백 표 · 비교 차트 · 분석 영상 확인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640080" y="5440680"/>
            <a:ext cx="108813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8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2"/>
          <p:cNvSpPr/>
          <p:nvPr/>
        </p:nvSpPr>
        <p:spPr>
          <a:xfrm>
            <a:off x="868680" y="5440680"/>
            <a:ext cx="10424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안정성 처리: 업로드 300MB 제한 · 인식률 50% 미만 시 재촬영 안내 · 분석 240초 초과 시 타임아웃 · /health 헬스체크</a:t>
            </a:r>
            <a:endParaRPr lang="en-US" sz="1150" dirty="0"/>
          </a:p>
        </p:txBody>
      </p:sp>
      <p:sp>
        <p:nvSpPr>
          <p:cNvPr id="29" name="Text 23"/>
          <p:cNvSpPr/>
          <p:nvPr/>
        </p:nvSpPr>
        <p:spPr>
          <a:xfrm>
            <a:off x="11368735" y="643737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B5A2DE-F731-2028-9981-8630234D64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CCDC1D7-371C-0451-80AF-C112D48A0093}"/>
              </a:ext>
            </a:extLst>
          </p:cNvPr>
          <p:cNvSpPr/>
          <p:nvPr/>
        </p:nvSpPr>
        <p:spPr>
          <a:xfrm>
            <a:off x="64008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SCREEN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FCCBD81-EB21-D50C-E115-760CE1633E1E}"/>
              </a:ext>
            </a:extLst>
          </p:cNvPr>
          <p:cNvSpPr/>
          <p:nvPr/>
        </p:nvSpPr>
        <p:spPr>
          <a:xfrm>
            <a:off x="64008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구현 결과 — 결과 화면 구성</a:t>
            </a:r>
            <a:endParaRPr lang="en-US" sz="3000" dirty="0"/>
          </a:p>
        </p:txBody>
      </p:sp>
      <p:sp>
        <p:nvSpPr>
          <p:cNvPr id="29" name="Text 22">
            <a:extLst>
              <a:ext uri="{FF2B5EF4-FFF2-40B4-BE49-F238E27FC236}">
                <a16:creationId xmlns:a16="http://schemas.microsoft.com/office/drawing/2014/main" id="{F3936F08-800F-73C6-D16B-DED8CFDE1A7D}"/>
              </a:ext>
            </a:extLst>
          </p:cNvPr>
          <p:cNvSpPr/>
          <p:nvPr/>
        </p:nvSpPr>
        <p:spPr>
          <a:xfrm>
            <a:off x="11368735" y="643737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pic>
        <p:nvPicPr>
          <p:cNvPr id="31" name="그림 30" descr="텍스트, 스크린샷, 컴퓨터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4D0C9676-9C2E-C5CE-93B9-172F5E2036E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037" t="20275" r="13302" b="13058"/>
          <a:stretch/>
        </p:blipFill>
        <p:spPr>
          <a:xfrm>
            <a:off x="640080" y="1467919"/>
            <a:ext cx="4059271" cy="2393613"/>
          </a:xfrm>
          <a:prstGeom prst="rect">
            <a:avLst/>
          </a:prstGeom>
        </p:spPr>
      </p:pic>
      <p:pic>
        <p:nvPicPr>
          <p:cNvPr id="33" name="그림 32" descr="텍스트, 소프트웨어, 웹 페이지, 번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F7216B8E-BD40-485E-1CF4-E6B6CB8E04A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223"/>
          <a:stretch/>
        </p:blipFill>
        <p:spPr>
          <a:xfrm>
            <a:off x="5080339" y="1460699"/>
            <a:ext cx="4096241" cy="2400833"/>
          </a:xfrm>
          <a:prstGeom prst="rect">
            <a:avLst/>
          </a:prstGeom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729542A1-006F-067E-AB81-484E33F5FEC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300" t="6140" r="8434" b="7210"/>
          <a:stretch/>
        </p:blipFill>
        <p:spPr>
          <a:xfrm>
            <a:off x="640080" y="4073119"/>
            <a:ext cx="3735708" cy="2400833"/>
          </a:xfrm>
          <a:prstGeom prst="rect">
            <a:avLst/>
          </a:prstGeom>
        </p:spPr>
      </p:pic>
      <p:sp>
        <p:nvSpPr>
          <p:cNvPr id="35" name="Text 4">
            <a:extLst>
              <a:ext uri="{FF2B5EF4-FFF2-40B4-BE49-F238E27FC236}">
                <a16:creationId xmlns:a16="http://schemas.microsoft.com/office/drawing/2014/main" id="{3F80ECB5-8448-52F4-74C3-32919A379266}"/>
              </a:ext>
            </a:extLst>
          </p:cNvPr>
          <p:cNvSpPr/>
          <p:nvPr/>
        </p:nvSpPr>
        <p:spPr>
          <a:xfrm>
            <a:off x="9197035" y="2200089"/>
            <a:ext cx="27203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100" dirty="0"/>
          </a:p>
        </p:txBody>
      </p:sp>
      <p:sp>
        <p:nvSpPr>
          <p:cNvPr id="36" name="Text 5">
            <a:extLst>
              <a:ext uri="{FF2B5EF4-FFF2-40B4-BE49-F238E27FC236}">
                <a16:creationId xmlns:a16="http://schemas.microsoft.com/office/drawing/2014/main" id="{F247CE2F-A1EF-EAF8-7EDB-3BDC3CE0130E}"/>
              </a:ext>
            </a:extLst>
          </p:cNvPr>
          <p:cNvSpPr/>
          <p:nvPr/>
        </p:nvSpPr>
        <p:spPr>
          <a:xfrm>
            <a:off x="9197035" y="2542989"/>
            <a:ext cx="27203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촬영 가이드 확인</a:t>
            </a:r>
            <a:endParaRPr lang="en-US" sz="1500" dirty="0"/>
          </a:p>
        </p:txBody>
      </p:sp>
      <p:sp>
        <p:nvSpPr>
          <p:cNvPr id="37" name="Text 9">
            <a:extLst>
              <a:ext uri="{FF2B5EF4-FFF2-40B4-BE49-F238E27FC236}">
                <a16:creationId xmlns:a16="http://schemas.microsoft.com/office/drawing/2014/main" id="{E9725086-07C6-BCDE-D955-4E5929875859}"/>
              </a:ext>
            </a:extLst>
          </p:cNvPr>
          <p:cNvSpPr/>
          <p:nvPr/>
        </p:nvSpPr>
        <p:spPr>
          <a:xfrm>
            <a:off x="3937342" y="4781355"/>
            <a:ext cx="27203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100" dirty="0"/>
          </a:p>
        </p:txBody>
      </p:sp>
      <p:sp>
        <p:nvSpPr>
          <p:cNvPr id="38" name="Text 10">
            <a:extLst>
              <a:ext uri="{FF2B5EF4-FFF2-40B4-BE49-F238E27FC236}">
                <a16:creationId xmlns:a16="http://schemas.microsoft.com/office/drawing/2014/main" id="{3DC0BB43-2554-3F35-B7D7-312ED628C890}"/>
              </a:ext>
            </a:extLst>
          </p:cNvPr>
          <p:cNvSpPr/>
          <p:nvPr/>
        </p:nvSpPr>
        <p:spPr>
          <a:xfrm>
            <a:off x="3937342" y="5055675"/>
            <a:ext cx="27203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영상 업로드</a:t>
            </a:r>
            <a:endParaRPr lang="en-US" sz="1500" dirty="0"/>
          </a:p>
        </p:txBody>
      </p:sp>
      <p:pic>
        <p:nvPicPr>
          <p:cNvPr id="40" name="그림 39" descr="텍스트, 스크린샷, 소프트웨어, 멀티미디어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654329E3-1259-A594-3262-B8D1908F7F7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8534" t="9375" r="7214" b="12055"/>
          <a:stretch/>
        </p:blipFill>
        <p:spPr>
          <a:xfrm>
            <a:off x="6260951" y="4080339"/>
            <a:ext cx="3931290" cy="2393613"/>
          </a:xfrm>
          <a:prstGeom prst="rect">
            <a:avLst/>
          </a:prstGeom>
        </p:spPr>
      </p:pic>
      <p:sp>
        <p:nvSpPr>
          <p:cNvPr id="41" name="Text 14">
            <a:extLst>
              <a:ext uri="{FF2B5EF4-FFF2-40B4-BE49-F238E27FC236}">
                <a16:creationId xmlns:a16="http://schemas.microsoft.com/office/drawing/2014/main" id="{C5C572E0-328A-C066-EB0A-CCCA32764C99}"/>
              </a:ext>
            </a:extLst>
          </p:cNvPr>
          <p:cNvSpPr/>
          <p:nvPr/>
        </p:nvSpPr>
        <p:spPr>
          <a:xfrm>
            <a:off x="9795510" y="4781355"/>
            <a:ext cx="27203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100" dirty="0"/>
          </a:p>
        </p:txBody>
      </p:sp>
      <p:sp>
        <p:nvSpPr>
          <p:cNvPr id="42" name="Text 15">
            <a:extLst>
              <a:ext uri="{FF2B5EF4-FFF2-40B4-BE49-F238E27FC236}">
                <a16:creationId xmlns:a16="http://schemas.microsoft.com/office/drawing/2014/main" id="{715CECB7-3DD2-22DC-EC8F-10F3EAFA7746}"/>
              </a:ext>
            </a:extLst>
          </p:cNvPr>
          <p:cNvSpPr/>
          <p:nvPr/>
        </p:nvSpPr>
        <p:spPr>
          <a:xfrm>
            <a:off x="9795510" y="5055675"/>
            <a:ext cx="27203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자세 분석 처리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23563980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E6B1D7-EEC8-4CE2-FB5F-423A988C15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F9F512A-12D5-D2FB-7411-AE15B023878F}"/>
              </a:ext>
            </a:extLst>
          </p:cNvPr>
          <p:cNvSpPr/>
          <p:nvPr/>
        </p:nvSpPr>
        <p:spPr>
          <a:xfrm>
            <a:off x="64008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SCREEN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89D6F03-0698-9A14-B786-7505530000B5}"/>
              </a:ext>
            </a:extLst>
          </p:cNvPr>
          <p:cNvSpPr/>
          <p:nvPr/>
        </p:nvSpPr>
        <p:spPr>
          <a:xfrm>
            <a:off x="64008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구현 결과 — 결과 화면 구성</a:t>
            </a:r>
            <a:endParaRPr lang="en-US" sz="3000" dirty="0"/>
          </a:p>
        </p:txBody>
      </p:sp>
      <p:sp>
        <p:nvSpPr>
          <p:cNvPr id="29" name="Text 22">
            <a:extLst>
              <a:ext uri="{FF2B5EF4-FFF2-40B4-BE49-F238E27FC236}">
                <a16:creationId xmlns:a16="http://schemas.microsoft.com/office/drawing/2014/main" id="{7863763A-E3A6-F64D-7BA7-B6D46B1D7B87}"/>
              </a:ext>
            </a:extLst>
          </p:cNvPr>
          <p:cNvSpPr/>
          <p:nvPr/>
        </p:nvSpPr>
        <p:spPr>
          <a:xfrm>
            <a:off x="11368735" y="643737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r>
              <a:rPr lang="en-US" altLang="ko-KR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5" name="Text 4">
            <a:extLst>
              <a:ext uri="{FF2B5EF4-FFF2-40B4-BE49-F238E27FC236}">
                <a16:creationId xmlns:a16="http://schemas.microsoft.com/office/drawing/2014/main" id="{B915032B-042B-28E5-E8CC-B8422FAD0E3B}"/>
              </a:ext>
            </a:extLst>
          </p:cNvPr>
          <p:cNvSpPr/>
          <p:nvPr/>
        </p:nvSpPr>
        <p:spPr>
          <a:xfrm>
            <a:off x="9197035" y="2200089"/>
            <a:ext cx="27203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37" name="Text 9">
            <a:extLst>
              <a:ext uri="{FF2B5EF4-FFF2-40B4-BE49-F238E27FC236}">
                <a16:creationId xmlns:a16="http://schemas.microsoft.com/office/drawing/2014/main" id="{4C449EF4-39C6-96C9-3338-754C4DAFD393}"/>
              </a:ext>
            </a:extLst>
          </p:cNvPr>
          <p:cNvSpPr/>
          <p:nvPr/>
        </p:nvSpPr>
        <p:spPr>
          <a:xfrm>
            <a:off x="5080339" y="4808043"/>
            <a:ext cx="27203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38" name="Text 10">
            <a:extLst>
              <a:ext uri="{FF2B5EF4-FFF2-40B4-BE49-F238E27FC236}">
                <a16:creationId xmlns:a16="http://schemas.microsoft.com/office/drawing/2014/main" id="{4FB57B03-FD6C-24AB-EFF8-53B0D9895B8E}"/>
              </a:ext>
            </a:extLst>
          </p:cNvPr>
          <p:cNvSpPr/>
          <p:nvPr/>
        </p:nvSpPr>
        <p:spPr>
          <a:xfrm>
            <a:off x="5080339" y="5082363"/>
            <a:ext cx="27203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CA193C5-B8D7-251D-7652-7E3FDA4B0D0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140" r="1482" b="2176"/>
          <a:stretch/>
        </p:blipFill>
        <p:spPr>
          <a:xfrm>
            <a:off x="740836" y="1603177"/>
            <a:ext cx="5157044" cy="2999560"/>
          </a:xfrm>
          <a:prstGeom prst="rect">
            <a:avLst/>
          </a:prstGeom>
        </p:spPr>
      </p:pic>
      <p:pic>
        <p:nvPicPr>
          <p:cNvPr id="6" name="그림 5" descr="텍스트, 스크린샷, 소프트웨어, 컴퓨터 아이콘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84D5B492-3154-1BDA-7AE1-EA16FE73573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5714" r="1482" b="2602"/>
          <a:stretch/>
        </p:blipFill>
        <p:spPr>
          <a:xfrm>
            <a:off x="6317612" y="1601100"/>
            <a:ext cx="5157044" cy="2999560"/>
          </a:xfrm>
          <a:prstGeom prst="rect">
            <a:avLst/>
          </a:prstGeom>
        </p:spPr>
      </p:pic>
      <p:sp>
        <p:nvSpPr>
          <p:cNvPr id="8" name="Text 18">
            <a:extLst>
              <a:ext uri="{FF2B5EF4-FFF2-40B4-BE49-F238E27FC236}">
                <a16:creationId xmlns:a16="http://schemas.microsoft.com/office/drawing/2014/main" id="{A2A2B47D-B339-7712-2CC3-09AC27CF0158}"/>
              </a:ext>
            </a:extLst>
          </p:cNvPr>
          <p:cNvSpPr/>
          <p:nvPr/>
        </p:nvSpPr>
        <p:spPr>
          <a:xfrm>
            <a:off x="238013" y="5219523"/>
            <a:ext cx="27203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100" dirty="0"/>
          </a:p>
        </p:txBody>
      </p:sp>
      <p:sp>
        <p:nvSpPr>
          <p:cNvPr id="9" name="Text 19">
            <a:extLst>
              <a:ext uri="{FF2B5EF4-FFF2-40B4-BE49-F238E27FC236}">
                <a16:creationId xmlns:a16="http://schemas.microsoft.com/office/drawing/2014/main" id="{C8274133-AF0F-410D-7D70-538912D59C03}"/>
              </a:ext>
            </a:extLst>
          </p:cNvPr>
          <p:cNvSpPr/>
          <p:nvPr/>
        </p:nvSpPr>
        <p:spPr>
          <a:xfrm>
            <a:off x="238013" y="5493843"/>
            <a:ext cx="27203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 확인</a:t>
            </a:r>
            <a:endParaRPr lang="en-US" sz="1500" dirty="0"/>
          </a:p>
        </p:txBody>
      </p:sp>
      <p:sp>
        <p:nvSpPr>
          <p:cNvPr id="12" name="Text 20">
            <a:extLst>
              <a:ext uri="{FF2B5EF4-FFF2-40B4-BE49-F238E27FC236}">
                <a16:creationId xmlns:a16="http://schemas.microsoft.com/office/drawing/2014/main" id="{7D7C8E11-3B8B-B8DC-109D-7B06B2B4D540}"/>
              </a:ext>
            </a:extLst>
          </p:cNvPr>
          <p:cNvSpPr/>
          <p:nvPr/>
        </p:nvSpPr>
        <p:spPr>
          <a:xfrm>
            <a:off x="2521635" y="5105223"/>
            <a:ext cx="733356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ko-KR" altLang="en-US" sz="1100" dirty="0">
                <a:solidFill>
                  <a:srgbClr val="6B7280"/>
                </a:solidFill>
                <a:latin typeface="Calibri" pitchFamily="34" charset="0"/>
                <a:cs typeface="Calibri" pitchFamily="34" charset="-120"/>
              </a:rPr>
              <a:t>자세 피드백은 정상</a:t>
            </a:r>
            <a:r>
              <a:rPr lang="en-US" altLang="ko-KR" sz="1100" dirty="0">
                <a:solidFill>
                  <a:srgbClr val="6B7280"/>
                </a:solidFill>
                <a:latin typeface="Calibri" pitchFamily="34" charset="0"/>
                <a:cs typeface="Calibri" pitchFamily="34" charset="-120"/>
              </a:rPr>
              <a:t>,</a:t>
            </a:r>
            <a:r>
              <a:rPr lang="ko-KR" altLang="en-US" sz="1100" dirty="0">
                <a:solidFill>
                  <a:srgbClr val="6B7280"/>
                </a:solidFill>
                <a:latin typeface="Calibri" pitchFamily="34" charset="0"/>
                <a:cs typeface="Calibri" pitchFamily="34" charset="-120"/>
              </a:rPr>
              <a:t> 관찰</a:t>
            </a:r>
            <a:r>
              <a:rPr lang="en-US" altLang="ko-KR" sz="1100" dirty="0">
                <a:solidFill>
                  <a:srgbClr val="6B7280"/>
                </a:solidFill>
                <a:latin typeface="Calibri" pitchFamily="34" charset="0"/>
                <a:cs typeface="Calibri" pitchFamily="34" charset="-120"/>
              </a:rPr>
              <a:t>,</a:t>
            </a:r>
            <a:r>
              <a:rPr lang="ko-KR" altLang="en-US" sz="1100" dirty="0">
                <a:solidFill>
                  <a:srgbClr val="6B7280"/>
                </a:solidFill>
                <a:latin typeface="Calibri" pitchFamily="34" charset="0"/>
                <a:cs typeface="Calibri" pitchFamily="34" charset="-120"/>
              </a:rPr>
              <a:t> 주의</a:t>
            </a:r>
            <a:r>
              <a:rPr lang="en-US" altLang="ko-KR" sz="1100" dirty="0">
                <a:solidFill>
                  <a:srgbClr val="6B7280"/>
                </a:solidFill>
                <a:latin typeface="Calibri" pitchFamily="34" charset="0"/>
                <a:cs typeface="Calibri" pitchFamily="34" charset="-120"/>
              </a:rPr>
              <a:t>,</a:t>
            </a:r>
            <a:r>
              <a:rPr lang="ko-KR" altLang="en-US" sz="1100" dirty="0">
                <a:solidFill>
                  <a:srgbClr val="6B7280"/>
                </a:solidFill>
                <a:latin typeface="Calibri" pitchFamily="34" charset="0"/>
                <a:cs typeface="Calibri" pitchFamily="34" charset="-120"/>
              </a:rPr>
              <a:t> 확인 필요</a:t>
            </a:r>
            <a:r>
              <a:rPr lang="en-US" altLang="ko-KR" sz="1100" dirty="0">
                <a:solidFill>
                  <a:srgbClr val="6B7280"/>
                </a:solidFill>
                <a:latin typeface="Calibri" pitchFamily="34" charset="0"/>
                <a:cs typeface="Calibri" pitchFamily="34" charset="-120"/>
              </a:rPr>
              <a:t>,</a:t>
            </a:r>
            <a:r>
              <a:rPr lang="ko-KR" altLang="en-US" sz="1100" dirty="0">
                <a:solidFill>
                  <a:srgbClr val="6B7280"/>
                </a:solidFill>
                <a:latin typeface="Calibri" pitchFamily="34" charset="0"/>
                <a:cs typeface="Calibri" pitchFamily="34" charset="-120"/>
              </a:rPr>
              <a:t> 참고용으로 나뉜다</a:t>
            </a:r>
            <a:r>
              <a:rPr lang="en-US" altLang="ko-KR" sz="1100" dirty="0">
                <a:solidFill>
                  <a:srgbClr val="6B7280"/>
                </a:solidFill>
                <a:latin typeface="Calibri" pitchFamily="34" charset="0"/>
                <a:cs typeface="Calibri" pitchFamily="34" charset="-120"/>
              </a:rPr>
              <a:t>.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ko-KR" altLang="en-US" sz="1100" dirty="0">
                <a:solidFill>
                  <a:srgbClr val="6B7280"/>
                </a:solidFill>
                <a:latin typeface="Calibri" pitchFamily="34" charset="0"/>
                <a:cs typeface="Calibri" pitchFamily="34" charset="-120"/>
              </a:rPr>
              <a:t>착지 유형에는 전족 착지</a:t>
            </a:r>
            <a:r>
              <a:rPr lang="en-US" altLang="ko-KR" sz="1100" dirty="0">
                <a:solidFill>
                  <a:srgbClr val="6B7280"/>
                </a:solidFill>
                <a:latin typeface="Calibri" pitchFamily="34" charset="0"/>
                <a:cs typeface="Calibri" pitchFamily="34" charset="-120"/>
              </a:rPr>
              <a:t>,</a:t>
            </a:r>
            <a:r>
              <a:rPr lang="ko-KR" altLang="en-US" sz="1100" dirty="0">
                <a:solidFill>
                  <a:srgbClr val="6B7280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ko-KR" altLang="en-US" sz="1100" dirty="0" err="1">
                <a:solidFill>
                  <a:srgbClr val="6B7280"/>
                </a:solidFill>
                <a:latin typeface="Calibri" pitchFamily="34" charset="0"/>
                <a:cs typeface="Calibri" pitchFamily="34" charset="-120"/>
              </a:rPr>
              <a:t>중족</a:t>
            </a:r>
            <a:r>
              <a:rPr lang="ko-KR" altLang="en-US" sz="1100" dirty="0">
                <a:solidFill>
                  <a:srgbClr val="6B7280"/>
                </a:solidFill>
                <a:latin typeface="Calibri" pitchFamily="34" charset="0"/>
                <a:cs typeface="Calibri" pitchFamily="34" charset="-120"/>
              </a:rPr>
              <a:t> 착지</a:t>
            </a:r>
            <a:r>
              <a:rPr lang="en-US" altLang="ko-KR" sz="1100" dirty="0">
                <a:solidFill>
                  <a:srgbClr val="6B7280"/>
                </a:solidFill>
                <a:latin typeface="Calibri" pitchFamily="34" charset="0"/>
                <a:cs typeface="Calibri" pitchFamily="34" charset="-120"/>
              </a:rPr>
              <a:t>,</a:t>
            </a:r>
            <a:r>
              <a:rPr lang="ko-KR" altLang="en-US" sz="1100" dirty="0">
                <a:solidFill>
                  <a:srgbClr val="6B7280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ko-KR" altLang="en-US" sz="1100" dirty="0" err="1">
                <a:solidFill>
                  <a:srgbClr val="6B7280"/>
                </a:solidFill>
                <a:latin typeface="Calibri" pitchFamily="34" charset="0"/>
                <a:cs typeface="Calibri" pitchFamily="34" charset="-120"/>
              </a:rPr>
              <a:t>후족</a:t>
            </a:r>
            <a:r>
              <a:rPr lang="ko-KR" altLang="en-US" sz="1100" dirty="0">
                <a:solidFill>
                  <a:srgbClr val="6B7280"/>
                </a:solidFill>
                <a:latin typeface="Calibri" pitchFamily="34" charset="0"/>
                <a:cs typeface="Calibri" pitchFamily="34" charset="-120"/>
              </a:rPr>
              <a:t> 착지가 있으며 </a:t>
            </a:r>
            <a:r>
              <a:rPr lang="en-US" altLang="ko-KR" sz="1100" dirty="0">
                <a:solidFill>
                  <a:srgbClr val="6B7280"/>
                </a:solidFill>
                <a:latin typeface="Calibri" pitchFamily="34" charset="0"/>
                <a:cs typeface="Calibri" pitchFamily="34" charset="-120"/>
              </a:rPr>
              <a:t>?</a:t>
            </a:r>
            <a:r>
              <a:rPr lang="ko-KR" altLang="en-US" sz="1100" dirty="0">
                <a:solidFill>
                  <a:srgbClr val="6B7280"/>
                </a:solidFill>
                <a:latin typeface="Calibri" pitchFamily="34" charset="0"/>
                <a:cs typeface="Calibri" pitchFamily="34" charset="-120"/>
              </a:rPr>
              <a:t>아이콘을 누르면 이에 대한 설명이 쓰여 있다</a:t>
            </a:r>
            <a:r>
              <a:rPr lang="en-US" altLang="ko-KR" sz="1100" dirty="0">
                <a:solidFill>
                  <a:srgbClr val="6B7280"/>
                </a:solidFill>
                <a:latin typeface="Calibri" pitchFamily="34" charset="0"/>
                <a:cs typeface="Calibri" pitchFamily="34" charset="-120"/>
              </a:rPr>
              <a:t>.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ko-KR" altLang="en-US" sz="1100" dirty="0">
                <a:solidFill>
                  <a:srgbClr val="6B7280"/>
                </a:solidFill>
                <a:latin typeface="Calibri" pitchFamily="34" charset="0"/>
                <a:cs typeface="Calibri" pitchFamily="34" charset="-120"/>
              </a:rPr>
              <a:t>좌우 착지 무릎</a:t>
            </a:r>
            <a:r>
              <a:rPr lang="en-US" altLang="ko-KR" sz="1100" dirty="0">
                <a:solidFill>
                  <a:srgbClr val="6B7280"/>
                </a:solidFill>
                <a:latin typeface="Calibri" pitchFamily="34" charset="0"/>
                <a:cs typeface="Calibri" pitchFamily="34" charset="-120"/>
              </a:rPr>
              <a:t>(</a:t>
            </a:r>
            <a:r>
              <a:rPr lang="ko-KR" altLang="en-US" sz="1100" dirty="0">
                <a:solidFill>
                  <a:srgbClr val="6B7280"/>
                </a:solidFill>
                <a:latin typeface="Calibri" pitchFamily="34" charset="0"/>
                <a:cs typeface="Calibri" pitchFamily="34" charset="-120"/>
              </a:rPr>
              <a:t>대칭성</a:t>
            </a:r>
            <a:r>
              <a:rPr lang="en-US" altLang="ko-KR" sz="1100" dirty="0">
                <a:solidFill>
                  <a:srgbClr val="6B7280"/>
                </a:solidFill>
                <a:latin typeface="Calibri" pitchFamily="34" charset="0"/>
                <a:cs typeface="Calibri" pitchFamily="34" charset="-120"/>
              </a:rPr>
              <a:t>)</a:t>
            </a:r>
            <a:r>
              <a:rPr lang="ko-KR" altLang="en-US" sz="1100" dirty="0">
                <a:solidFill>
                  <a:srgbClr val="6B7280"/>
                </a:solidFill>
                <a:latin typeface="Calibri" pitchFamily="34" charset="0"/>
                <a:cs typeface="Calibri" pitchFamily="34" charset="-120"/>
              </a:rPr>
              <a:t>을 직관적으로 확인하기 위해 그래프를 사용하여 </a:t>
            </a:r>
            <a:r>
              <a:rPr lang="ko-KR" altLang="en-US" sz="1100" dirty="0" err="1">
                <a:solidFill>
                  <a:srgbClr val="6B7280"/>
                </a:solidFill>
                <a:latin typeface="Calibri" pitchFamily="34" charset="0"/>
                <a:cs typeface="Calibri" pitchFamily="34" charset="-120"/>
              </a:rPr>
              <a:t>시각화하였다</a:t>
            </a:r>
            <a:r>
              <a:rPr lang="en-US" altLang="ko-KR" sz="1100" dirty="0">
                <a:solidFill>
                  <a:srgbClr val="6B7280"/>
                </a:solidFill>
                <a:latin typeface="Calibri" pitchFamily="34" charset="0"/>
                <a:cs typeface="Calibri" pitchFamily="34" charset="-120"/>
              </a:rPr>
              <a:t>.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ko-KR" altLang="en-US" sz="1100" dirty="0">
                <a:solidFill>
                  <a:srgbClr val="6B7280"/>
                </a:solidFill>
                <a:latin typeface="Calibri" pitchFamily="34" charset="0"/>
                <a:cs typeface="Calibri" pitchFamily="34" charset="-120"/>
              </a:rPr>
              <a:t>관절이 점으로 연결되어 있는 분석 영상이 첨부되며</a:t>
            </a:r>
            <a:r>
              <a:rPr lang="en-US" altLang="ko-KR" sz="1100" dirty="0">
                <a:solidFill>
                  <a:srgbClr val="6B7280"/>
                </a:solidFill>
                <a:latin typeface="Calibri" pitchFamily="34" charset="0"/>
                <a:cs typeface="Calibri" pitchFamily="34" charset="-120"/>
              </a:rPr>
              <a:t>,</a:t>
            </a:r>
            <a:r>
              <a:rPr lang="ko-KR" altLang="en-US" sz="1100" dirty="0">
                <a:solidFill>
                  <a:srgbClr val="6B7280"/>
                </a:solidFill>
                <a:latin typeface="Calibri" pitchFamily="34" charset="0"/>
                <a:cs typeface="Calibri" pitchFamily="34" charset="-120"/>
              </a:rPr>
              <a:t> 다운로드가 가능하다</a:t>
            </a:r>
            <a:r>
              <a:rPr lang="en-US" altLang="ko-KR" sz="1100" dirty="0">
                <a:solidFill>
                  <a:srgbClr val="6B7280"/>
                </a:solidFill>
                <a:latin typeface="Calibri" pitchFamily="34" charset="0"/>
                <a:cs typeface="Calibri" pitchFamily="34" charset="-120"/>
              </a:rPr>
              <a:t>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3455263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SCREEN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구현 결과 — 결과 화면 구성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344420"/>
            <a:ext cx="2029968" cy="2926080"/>
          </a:xfrm>
          <a:prstGeom prst="roundRect">
            <a:avLst>
              <a:gd name="adj" fmla="val 4505"/>
            </a:avLst>
          </a:prstGeom>
          <a:solidFill>
            <a:srgbClr val="F6F7FB"/>
          </a:solidFill>
          <a:ln/>
          <a:effectLst>
            <a:outerShdw blurRad="76200" dist="25400" dir="5400000" algn="bl" rotWithShape="0">
              <a:srgbClr val="1B2440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380744" y="2618740"/>
            <a:ext cx="548640" cy="548640"/>
          </a:xfrm>
          <a:prstGeom prst="ellipse">
            <a:avLst/>
          </a:prstGeom>
          <a:solidFill>
            <a:srgbClr val="FFE7E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/sessions/dazzling-quirky-mayer/mnt/outputs/icons/chart_acc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2067" y="2690063"/>
            <a:ext cx="405994" cy="40599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3368548"/>
            <a:ext cx="17556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요약 지표 카드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04672" y="3917188"/>
            <a:ext cx="170078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자세 인식률 · 분석 시간 · 촬영 신뢰도 · 원근 변화율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871216" y="2344420"/>
            <a:ext cx="2029968" cy="2926080"/>
          </a:xfrm>
          <a:prstGeom prst="roundRect">
            <a:avLst>
              <a:gd name="adj" fmla="val 4505"/>
            </a:avLst>
          </a:prstGeom>
          <a:solidFill>
            <a:srgbClr val="F6F7FB"/>
          </a:solidFill>
          <a:ln/>
          <a:effectLst>
            <a:outerShdw blurRad="76200" dist="25400" dir="5400000" algn="bl" rotWithShape="0">
              <a:srgbClr val="1B2440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3611880" y="2618740"/>
            <a:ext cx="548640" cy="548640"/>
          </a:xfrm>
          <a:prstGeom prst="ellipse">
            <a:avLst/>
          </a:prstGeom>
          <a:solidFill>
            <a:srgbClr val="FFE7E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1" descr="/sessions/dazzling-quirky-mayer/mnt/outputs/icons/table_acc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3203" y="2690063"/>
            <a:ext cx="405994" cy="40599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008376" y="3368548"/>
            <a:ext cx="17556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자세 피드백 표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3035808" y="3917188"/>
            <a:ext cx="170078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분석 요소 · 판정(정상/주의/관찰 등) · 교정 피드백 문장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5102352" y="2344420"/>
            <a:ext cx="2029968" cy="2926080"/>
          </a:xfrm>
          <a:prstGeom prst="roundRect">
            <a:avLst>
              <a:gd name="adj" fmla="val 4505"/>
            </a:avLst>
          </a:prstGeom>
          <a:solidFill>
            <a:srgbClr val="F6F7FB"/>
          </a:solidFill>
          <a:ln/>
          <a:effectLst>
            <a:outerShdw blurRad="76200" dist="25400" dir="5400000" algn="bl" rotWithShape="0">
              <a:srgbClr val="1B2440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1"/>
          <p:cNvSpPr/>
          <p:nvPr/>
        </p:nvSpPr>
        <p:spPr>
          <a:xfrm>
            <a:off x="5843016" y="2618740"/>
            <a:ext cx="548640" cy="548640"/>
          </a:xfrm>
          <a:prstGeom prst="ellipse">
            <a:avLst/>
          </a:prstGeom>
          <a:solidFill>
            <a:srgbClr val="FFE7E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2" descr="/sessions/dazzling-quirky-mayer/mnt/outputs/icons/footprint_acce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4339" y="2690063"/>
            <a:ext cx="405994" cy="40599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239512" y="3368548"/>
            <a:ext cx="17556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착지 유형 카드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5266944" y="3917188"/>
            <a:ext cx="170078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전족 · 중족 · 후족 착지 횟수와 주된 경향, 신뢰도 안내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7333488" y="2344420"/>
            <a:ext cx="2029968" cy="2926080"/>
          </a:xfrm>
          <a:prstGeom prst="roundRect">
            <a:avLst>
              <a:gd name="adj" fmla="val 4505"/>
            </a:avLst>
          </a:prstGeom>
          <a:solidFill>
            <a:srgbClr val="F6F7FB"/>
          </a:solidFill>
          <a:ln/>
          <a:effectLst>
            <a:outerShdw blurRad="76200" dist="25400" dir="5400000" algn="bl" rotWithShape="0">
              <a:srgbClr val="1B2440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5"/>
          <p:cNvSpPr/>
          <p:nvPr/>
        </p:nvSpPr>
        <p:spPr>
          <a:xfrm>
            <a:off x="8074152" y="2618740"/>
            <a:ext cx="548640" cy="548640"/>
          </a:xfrm>
          <a:prstGeom prst="ellipse">
            <a:avLst/>
          </a:prstGeom>
          <a:solidFill>
            <a:srgbClr val="FFE7E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1" name="Image 3" descr="/sessions/dazzling-quirky-mayer/mnt/outputs/icons/chart_acc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5475" y="2690063"/>
            <a:ext cx="405994" cy="40599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70648" y="3368548"/>
            <a:ext cx="17556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좌우 무릎 비교 차트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7498080" y="3917188"/>
            <a:ext cx="170078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기반 막대그래프, 목표 범위 음영 표시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9564624" y="2344420"/>
            <a:ext cx="2029968" cy="2926080"/>
          </a:xfrm>
          <a:prstGeom prst="roundRect">
            <a:avLst>
              <a:gd name="adj" fmla="val 4505"/>
            </a:avLst>
          </a:prstGeom>
          <a:solidFill>
            <a:srgbClr val="F6F7FB"/>
          </a:solidFill>
          <a:ln/>
          <a:effectLst>
            <a:outerShdw blurRad="76200" dist="25400" dir="5400000" algn="bl" rotWithShape="0">
              <a:srgbClr val="1B2440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19"/>
          <p:cNvSpPr/>
          <p:nvPr/>
        </p:nvSpPr>
        <p:spPr>
          <a:xfrm>
            <a:off x="10305288" y="2618740"/>
            <a:ext cx="548640" cy="548640"/>
          </a:xfrm>
          <a:prstGeom prst="ellipse">
            <a:avLst/>
          </a:prstGeom>
          <a:solidFill>
            <a:srgbClr val="FFE7E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6" name="Image 4" descr="/sessions/dazzling-quirky-mayer/mnt/outputs/icons/video_accen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76611" y="2690063"/>
            <a:ext cx="405994" cy="40599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701784" y="3368548"/>
            <a:ext cx="17556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관절 추정 영상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9729216" y="3917188"/>
            <a:ext cx="170078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분석</a:t>
            </a: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영상</a:t>
            </a: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제공,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다운로드</a:t>
            </a: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가능</a:t>
            </a:r>
            <a:endParaRPr lang="en-US" sz="1000" dirty="0"/>
          </a:p>
        </p:txBody>
      </p:sp>
      <p:sp>
        <p:nvSpPr>
          <p:cNvPr id="29" name="Text 22"/>
          <p:cNvSpPr/>
          <p:nvPr/>
        </p:nvSpPr>
        <p:spPr>
          <a:xfrm>
            <a:off x="11368735" y="643737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altLang="ko-KR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한계 및 향후 개선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57800" cy="4297680"/>
          </a:xfrm>
          <a:prstGeom prst="roundRect">
            <a:avLst>
              <a:gd name="adj" fmla="val 2553"/>
            </a:avLst>
          </a:prstGeom>
          <a:solidFill>
            <a:srgbClr val="F6F7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14400" y="1965960"/>
            <a:ext cx="530352" cy="530352"/>
          </a:xfrm>
          <a:prstGeom prst="ellipse">
            <a:avLst/>
          </a:prstGeom>
          <a:solidFill>
            <a:srgbClr val="FFE7E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/sessions/dazzling-quirky-mayer/mnt/outputs/icons/alert_acc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346" y="2034906"/>
            <a:ext cx="392460" cy="3924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72768" y="20116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한계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2697480"/>
            <a:ext cx="47548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25000"/>
              </a:lnSpc>
              <a:spcAft>
                <a:spcPts val="1400"/>
              </a:spcAft>
              <a:buSzPct val="100000"/>
              <a:buChar char="✦"/>
            </a:pPr>
            <a:r>
              <a:rPr lang="en-US" sz="12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단일 RGB 영상 기반이라 정밀한 3D 관절각 · 실제 거리 측정에는 한계</a:t>
            </a:r>
            <a:endParaRPr lang="en-US" sz="1250" dirty="0"/>
          </a:p>
          <a:p>
            <a:pPr marL="177800" indent="-177800">
              <a:lnSpc>
                <a:spcPct val="125000"/>
              </a:lnSpc>
              <a:spcAft>
                <a:spcPts val="1400"/>
              </a:spcAft>
              <a:buSzPct val="100000"/>
              <a:buChar char="✦"/>
            </a:pPr>
            <a:r>
              <a:rPr lang="en-US" sz="12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대각선 · 정면 · 왕복 · 카메라 이동 영상은 거리 기반 지표 신뢰도가 낮아질 수 있음</a:t>
            </a:r>
            <a:endParaRPr lang="en-US" sz="1250" dirty="0"/>
          </a:p>
          <a:p>
            <a:pPr marL="177800" indent="-177800">
              <a:lnSpc>
                <a:spcPct val="125000"/>
              </a:lnSpc>
              <a:spcAft>
                <a:spcPts val="1400"/>
              </a:spcAft>
              <a:buSzPct val="100000"/>
              <a:buChar char="✦"/>
            </a:pPr>
            <a:r>
              <a:rPr lang="en-US" sz="12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착지 유형 분류는 화면상 높이 차이 기반 참고용 분류로, 임상적 판정 근거로 사용 불가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63640" y="1691640"/>
            <a:ext cx="5303520" cy="4297680"/>
          </a:xfrm>
          <a:prstGeom prst="roundRect">
            <a:avLst>
              <a:gd name="adj" fmla="val 2553"/>
            </a:avLst>
          </a:prstGeom>
          <a:solidFill>
            <a:srgbClr val="16213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6537960" y="1965960"/>
            <a:ext cx="530352" cy="530352"/>
          </a:xfrm>
          <a:prstGeom prst="ellipse">
            <a:avLst/>
          </a:prstGeom>
          <a:solidFill>
            <a:srgbClr val="24314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1" descr="/sessions/dazzling-quirky-mayer/mnt/outputs/icons/flag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6906" y="2034906"/>
            <a:ext cx="392460" cy="3924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96328" y="20116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향후 개선 방향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537960" y="2697480"/>
            <a:ext cx="47548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25000"/>
              </a:lnSpc>
              <a:spcAft>
                <a:spcPts val="1400"/>
              </a:spcAft>
              <a:buSzPct val="100000"/>
              <a:buChar char="✦"/>
            </a:pPr>
            <a:r>
              <a:rPr lang="en-US" sz="1250" dirty="0">
                <a:solidFill>
                  <a:srgbClr val="DC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다중 카메라 또는 깊이 정보 활용으로 3D 분석 정밀도 향상</a:t>
            </a:r>
            <a:endParaRPr lang="en-US" sz="1250" dirty="0"/>
          </a:p>
          <a:p>
            <a:pPr marL="177800" indent="-177800">
              <a:lnSpc>
                <a:spcPct val="125000"/>
              </a:lnSpc>
              <a:spcAft>
                <a:spcPts val="1400"/>
              </a:spcAft>
              <a:buSzPct val="100000"/>
              <a:buChar char="✦"/>
            </a:pPr>
            <a:r>
              <a:rPr lang="en-US" sz="1250" dirty="0">
                <a:solidFill>
                  <a:srgbClr val="DC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더 정교한 착지 이벤트 모델 도입</a:t>
            </a:r>
            <a:endParaRPr lang="en-US" sz="1250" dirty="0"/>
          </a:p>
          <a:p>
            <a:pPr marL="177800" indent="-177800">
              <a:lnSpc>
                <a:spcPct val="125000"/>
              </a:lnSpc>
              <a:spcAft>
                <a:spcPts val="1400"/>
              </a:spcAft>
              <a:buSzPct val="100000"/>
              <a:buChar char="✦"/>
            </a:pPr>
            <a:r>
              <a:rPr lang="en-US" sz="1250" dirty="0">
                <a:solidFill>
                  <a:srgbClr val="DC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개인별 속도 · 부상 이력을 반영한 맞춤형 기준 적용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11368735" y="643737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altLang="ko-KR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1016</Words>
  <Application>Microsoft Macintosh PowerPoint</Application>
  <PresentationFormat>와이드스크린</PresentationFormat>
  <Paragraphs>216</Paragraphs>
  <Slides>13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RunForm AI 프로젝트 발표</dc:title>
  <dc:subject>PptxGenJS Presentation</dc:subject>
  <dc:creator>애디니</dc:creator>
  <cp:lastModifiedBy>이 수현</cp:lastModifiedBy>
  <cp:revision>2</cp:revision>
  <dcterms:created xsi:type="dcterms:W3CDTF">2026-06-21T09:33:35Z</dcterms:created>
  <dcterms:modified xsi:type="dcterms:W3CDTF">2026-06-21T10:34:21Z</dcterms:modified>
</cp:coreProperties>
</file>